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10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0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0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0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>
            <a:alphaModFix amt="30000"/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/>
          <a:noFill/>
        </p:spPr>
      </p:pic>
      <p:grpSp>
        <p:nvGrpSpPr>
          <p:cNvPr id="33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</a:gradFill>
        </p:grpSpPr>
        <p:sp>
          <p:nvSpPr>
            <p:cNvPr id="1048618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/>
            <a:grpFill/>
            <a:ln>
              <a:noFill/>
            </a:ln>
          </p:spPr>
        </p:sp>
        <p:sp>
          <p:nvSpPr>
            <p:cNvPr id="1048619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0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1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/>
            <a:grpFill/>
            <a:ln>
              <a:noFill/>
            </a:ln>
          </p:spPr>
        </p:sp>
        <p:sp>
          <p:nvSpPr>
            <p:cNvPr id="1048622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3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ah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4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ah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5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6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ah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7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ah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8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29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0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ah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1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ah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2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ah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3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4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5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ah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6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ah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7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8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ah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39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0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ah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1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2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ah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3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4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ah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5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6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/>
            <a:grpFill/>
            <a:ln>
              <a:noFill/>
            </a:ln>
          </p:spPr>
        </p:sp>
        <p:sp>
          <p:nvSpPr>
            <p:cNvPr id="1048647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8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ah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49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ah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0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ah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1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ah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2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ah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3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ah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4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ah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5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ah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6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ah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7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ah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58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/>
            <a:grpFill/>
            <a:ln>
              <a:noFill/>
            </a:ln>
          </p:spPr>
        </p:sp>
        <p:sp>
          <p:nvSpPr>
            <p:cNvPr id="1048659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ah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0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1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ah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2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3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4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ah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5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ah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6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7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ah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8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ah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9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ah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0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ah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1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ah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104867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algn="l" indent="0" marL="0">
              <a:buNone/>
              <a:defRPr baseline="0" cap="all" sz="2000">
                <a:solidFill>
                  <a:schemeClr val="tx2"/>
                </a:solidFill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67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p>
            <a:endParaRPr dirty="0" lang="en-US"/>
          </a:p>
        </p:txBody>
      </p:sp>
      <p:sp>
        <p:nvSpPr>
          <p:cNvPr id="104867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6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45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indent="0" marL="0">
              <a:buNone/>
              <a:defRPr baseline="0" cap="all" sz="18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77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7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7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8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8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50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indent="0" marL="0">
              <a:lnSpc>
                <a:spcPct val="90000"/>
              </a:lnSpc>
              <a:buNone/>
              <a:defRPr baseline="0" b="0" cap="all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1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5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indent="0" marL="0">
              <a:lnSpc>
                <a:spcPct val="90000"/>
              </a:lnSpc>
              <a:buNone/>
              <a:defRPr baseline="0" b="0" cap="all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5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5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5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0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9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9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6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algn="t" blurRad="88900" dir="5400000" dist="38100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27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2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71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algn="t" blurRad="88900" dir="5400000" dist="38100" rotWithShape="0">
              <a:prstClr val="black">
                <a:alpha val="40000"/>
              </a:prstClr>
            </a:outerShdw>
          </a:effectLst>
        </p:spPr>
        <p:txBody>
          <a:bodyPr anchor="t" bIns="45720" lIns="91440" rIns="91440" rtlCol="0" tIns="45720" vert="horz">
            <a:normAutofit/>
          </a:bodyPr>
          <a:lstStyle>
            <a:lvl1pPr>
              <a:buNone/>
              <a:defRPr sz="3200" lang="en-US"/>
            </a:lvl1pPr>
          </a:lstStyle>
          <a:p>
            <a:pPr indent="0" lvl="0" marL="0">
              <a:buNone/>
            </a:pPr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72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1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indent="0" marL="0">
              <a:buNone/>
              <a:defRPr sz="18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63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indent="0" marL="0">
              <a:buNone/>
              <a:defRPr sz="18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6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768" name="TextBox 59"/>
          <p:cNvSpPr txBox="1"/>
          <p:nvPr/>
        </p:nvSpPr>
        <p:spPr>
          <a:xfrm>
            <a:off x="903512" y="732394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sz="8000" lang="en-US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769" name="TextBox 60"/>
          <p:cNvSpPr txBox="1"/>
          <p:nvPr/>
        </p:nvSpPr>
        <p:spPr>
          <a:xfrm>
            <a:off x="10537370" y="2764972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sz="8000" lang="en-US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6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indent="0" marL="0">
              <a:buNone/>
              <a:defRPr sz="18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8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indent="0" marL="0">
              <a:lnSpc>
                <a:spcPct val="90000"/>
              </a:lnSpc>
              <a:buNone/>
              <a:defRPr baseline="0" b="0" cap="all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4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indent="0" marL="0">
              <a:lnSpc>
                <a:spcPct val="90000"/>
              </a:lnSpc>
              <a:buNone/>
              <a:defRPr baseline="0" b="0" cap="all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6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indent="0" marL="0">
              <a:lnSpc>
                <a:spcPct val="90000"/>
              </a:lnSpc>
              <a:buNone/>
              <a:defRPr baseline="0" b="0" cap="all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8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32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indent="0" marL="0">
              <a:lnSpc>
                <a:spcPct val="90000"/>
              </a:lnSpc>
              <a:buNone/>
              <a:defRPr baseline="0" b="0" cap="all" sz="20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3" name="Picture Placeholder 2"/>
          <p:cNvSpPr>
            <a:spLocks noChangeAspect="1" noGrp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algn="t" blurRad="88900" dir="5400000" dist="38100" rotWithShape="0">
              <a:prstClr val="black">
                <a:alpha val="40000"/>
              </a:prstClr>
            </a:outerShdw>
          </a:effectLst>
        </p:spPr>
        <p:txBody>
          <a:bodyPr anchor="t" bIns="45720" lIns="91440" rIns="91440" rtlCol="0" tIns="45720" vert="horz">
            <a:normAutofit/>
          </a:bodyPr>
          <a:lstStyle>
            <a:lvl1pPr>
              <a:buNone/>
              <a:defRPr dirty="0" sz="2000" lang="en-US"/>
            </a:lvl1pPr>
          </a:lstStyle>
          <a:p>
            <a:pPr indent="0" lvl="0" marL="0">
              <a:buNone/>
            </a:pPr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34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indent="0" marL="0">
              <a:lnSpc>
                <a:spcPct val="90000"/>
              </a:lnSpc>
              <a:buNone/>
              <a:defRPr baseline="0" b="0" cap="all" sz="20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6" name="Picture Placeholder 2"/>
          <p:cNvSpPr>
            <a:spLocks noChangeAspect="1" noGrp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algn="t" blurRad="88900" dir="5400000" dist="38100" rotWithShape="0">
              <a:prstClr val="black">
                <a:alpha val="40000"/>
              </a:prstClr>
            </a:outerShdw>
          </a:effectLst>
        </p:spPr>
        <p:txBody>
          <a:bodyPr anchor="t" bIns="45720" lIns="91440" rIns="91440" rtlCol="0" tIns="45720" vert="horz">
            <a:normAutofit/>
          </a:bodyPr>
          <a:lstStyle>
            <a:lvl1pPr>
              <a:buNone/>
              <a:defRPr dirty="0" sz="2000" lang="en-US"/>
            </a:lvl1pPr>
          </a:lstStyle>
          <a:p>
            <a:pPr indent="0" lvl="0" marL="0">
              <a:buNone/>
            </a:pPr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37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indent="0" marL="0">
              <a:lnSpc>
                <a:spcPct val="90000"/>
              </a:lnSpc>
              <a:buNone/>
              <a:defRPr baseline="0" b="0" cap="all" sz="20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9" name="Picture Placeholder 2"/>
          <p:cNvSpPr>
            <a:spLocks noChangeAspect="1" noGrp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algn="t" blurRad="88900" dir="5400000" dist="38100" rotWithShape="0">
              <a:prstClr val="black">
                <a:alpha val="40000"/>
              </a:prstClr>
            </a:outerShdw>
          </a:effectLst>
        </p:spPr>
        <p:txBody>
          <a:bodyPr anchor="t" bIns="45720" lIns="91440" rIns="91440" rtlCol="0" tIns="45720" vert="horz">
            <a:normAutofit/>
          </a:bodyPr>
          <a:lstStyle>
            <a:lvl1pPr>
              <a:buNone/>
              <a:defRPr dirty="0" sz="2000" lang="en-US"/>
            </a:lvl1pPr>
          </a:lstStyle>
          <a:p>
            <a:pPr indent="0" lvl="0" marL="0">
              <a:buNone/>
            </a:pPr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40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4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4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9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anchor="t"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8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8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5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76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image" Target="../media/image1.png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8">
            <a:alphaModFix amt="30000"/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/>
          <a:noFill/>
        </p:spPr>
      </p:pic>
      <p:grpSp>
        <p:nvGrpSpPr>
          <p:cNvPr id="12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</a:gradFill>
          </p:grpSpPr>
          <p:sp>
            <p:nvSpPr>
              <p:cNvPr id="1048576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/>
              <a:grpFill/>
              <a:ln>
                <a:noFill/>
              </a:ln>
            </p:spPr>
          </p:sp>
          <p:sp>
            <p:nvSpPr>
              <p:cNvPr id="1048577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78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79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ah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0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1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ah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2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ah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3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4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5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ah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6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ah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7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/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048588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ah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9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ah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0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ah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1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ah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2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/>
              <a:grpFill/>
              <a:ln>
                <a:noFill/>
              </a:ln>
            </p:spPr>
          </p:sp>
          <p:sp>
            <p:nvSpPr>
              <p:cNvPr id="1048593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ah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4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5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ah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6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7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ah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8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ah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9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0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1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ah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2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ah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4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</a:gradFill>
          </p:grpSpPr>
          <p:sp>
            <p:nvSpPr>
              <p:cNvPr id="1048603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ah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4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ah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5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6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ah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7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ah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8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ah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9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10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ah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11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ah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12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/>
              <a:grpFill/>
              <a:ln>
                <a:noFill/>
              </a:ln>
            </p:spPr>
          </p:sp>
        </p:grpSp>
      </p:grpSp>
      <p:sp>
        <p:nvSpPr>
          <p:cNvPr id="1048613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8/30/2024</a:t>
            </a:fld>
            <a:endParaRPr dirty="0" 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aseline="0" cap="all"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dk1" bg2="dk2" tx1="lt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cap="all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ctrTitle"/>
          </p:nvPr>
        </p:nvSpPr>
        <p:spPr>
          <a:xfrm>
            <a:off x="1876424" y="673075"/>
            <a:ext cx="8791575" cy="2836888"/>
          </a:xfrm>
        </p:spPr>
        <p:txBody>
          <a:bodyPr>
            <a:noAutofit/>
          </a:bodyPr>
          <a:p>
            <a:pPr algn="ctr"/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Comparison of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o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u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t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c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o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m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e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s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o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f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Early Versus Late Amniotomy with Immediate Oxytocin Infusion</a:t>
            </a:r>
            <a:r>
              <a:rPr cap="small" dirty="0" sz="3200" kern="1400" lang="en-US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In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Nulliparous women with bishop’s score ≥ 6 </a:t>
            </a:r>
            <a:b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</a:b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- A </a:t>
            </a:r>
            <a:r>
              <a:rPr cap="small" dirty="0" sz="3200" kern="1400" lang="en-US" spc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Randomised</a:t>
            </a:r>
            <a:r>
              <a:rPr cap="small" dirty="0" sz="3200" kern="1400" lang="en-US" spc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Trial</a:t>
            </a:r>
            <a:br>
              <a:rPr dirty="0" sz="3200" kern="1400" lang="en-US" spc="-50">
                <a:effectLst/>
                <a:latin typeface="Cambria" panose="02040503050406030204" pitchFamily="18" charset="0"/>
                <a:ea typeface="SimSun" panose="02010600030101010101" pitchFamily="2" charset="-122"/>
                <a:cs typeface="Latha" panose="020B0502040204020203" pitchFamily="34" charset="0"/>
              </a:rPr>
            </a:br>
            <a:endParaRPr dirty="0" sz="3200" lang="en-US"/>
          </a:p>
        </p:txBody>
      </p:sp>
      <p:sp>
        <p:nvSpPr>
          <p:cNvPr id="1048678" name="Subtitle 2"/>
          <p:cNvSpPr>
            <a:spLocks noGrp="1"/>
          </p:cNvSpPr>
          <p:nvPr>
            <p:ph type="subTitle" idx="1"/>
          </p:nvPr>
        </p:nvSpPr>
        <p:spPr>
          <a:xfrm>
            <a:off x="1876424" y="3429001"/>
            <a:ext cx="8791575" cy="2836888"/>
          </a:xfrm>
        </p:spPr>
        <p:txBody>
          <a:bodyPr/>
          <a:p>
            <a:pPr algn="r"/>
            <a:r>
              <a:rPr dirty="0" lang="en-US"/>
              <a:t>Princip</a:t>
            </a:r>
            <a:r>
              <a:rPr dirty="0" lang="en-US"/>
              <a:t>A</a:t>
            </a:r>
            <a:r>
              <a:rPr dirty="0" lang="en-US"/>
              <a:t>L</a:t>
            </a:r>
            <a:r>
              <a:rPr dirty="0" lang="en-US"/>
              <a:t> </a:t>
            </a:r>
            <a:r>
              <a:rPr dirty="0" lang="en-US"/>
              <a:t>investigator: Dr. m. Saranya 1</a:t>
            </a:r>
            <a:r>
              <a:rPr baseline="30000" dirty="0" lang="en-US"/>
              <a:t>st</a:t>
            </a:r>
            <a:r>
              <a:rPr dirty="0" lang="en-US"/>
              <a:t> year </a:t>
            </a:r>
            <a:r>
              <a:rPr dirty="0" lang="en-US" err="1"/>
              <a:t>pg</a:t>
            </a:r>
            <a:endParaRPr dirty="0" lang="en-US"/>
          </a:p>
          <a:p>
            <a:pPr algn="r"/>
            <a:r>
              <a:rPr dirty="0" lang="en-US"/>
              <a:t>Guide: dr. p. </a:t>
            </a:r>
            <a:r>
              <a:rPr dirty="0" lang="en-US" err="1"/>
              <a:t>amudha</a:t>
            </a:r>
            <a:r>
              <a:rPr dirty="0" lang="en-US"/>
              <a:t> md </a:t>
            </a:r>
            <a:r>
              <a:rPr dirty="0" lang="en-US" err="1"/>
              <a:t>og</a:t>
            </a:r>
            <a:endParaRPr dirty="0" lang="en-US"/>
          </a:p>
          <a:p>
            <a:pPr algn="r"/>
            <a:r>
              <a:rPr dirty="0" lang="en-US"/>
              <a:t>Co guide : </a:t>
            </a:r>
            <a:r>
              <a:rPr dirty="0" lang="en-US" err="1"/>
              <a:t>dr.c</a:t>
            </a:r>
            <a:r>
              <a:rPr dirty="0" lang="en-US"/>
              <a:t>. </a:t>
            </a:r>
            <a:r>
              <a:rPr dirty="0" lang="en-US" err="1"/>
              <a:t>anju</a:t>
            </a:r>
            <a:r>
              <a:rPr dirty="0" lang="en-US"/>
              <a:t> </a:t>
            </a:r>
            <a:r>
              <a:rPr dirty="0" lang="en-US" err="1"/>
              <a:t>padmasekar</a:t>
            </a:r>
            <a:r>
              <a:rPr dirty="0" lang="en-US"/>
              <a:t> md </a:t>
            </a:r>
            <a:r>
              <a:rPr dirty="0" lang="en-US" err="1"/>
              <a:t>og</a:t>
            </a:r>
            <a:endParaRPr dirty="0" lang="en-US"/>
          </a:p>
          <a:p>
            <a:pPr algn="r"/>
            <a:r>
              <a:rPr dirty="0" lang="en-US"/>
              <a:t>Department of </a:t>
            </a:r>
            <a:r>
              <a:rPr dirty="0" lang="en-US" err="1"/>
              <a:t>obst</a:t>
            </a:r>
            <a:r>
              <a:rPr dirty="0" lang="en-US" err="1"/>
              <a:t>E</a:t>
            </a:r>
            <a:r>
              <a:rPr dirty="0" lang="en-US" err="1"/>
              <a:t>T</a:t>
            </a:r>
            <a:r>
              <a:rPr dirty="0" lang="en-US" err="1"/>
              <a:t>r</a:t>
            </a:r>
            <a:r>
              <a:rPr dirty="0" lang="en-US" err="1"/>
              <a:t>I</a:t>
            </a:r>
            <a:r>
              <a:rPr dirty="0" lang="en-US" err="1"/>
              <a:t>C</a:t>
            </a:r>
            <a:r>
              <a:rPr dirty="0" lang="en-US" err="1"/>
              <a:t>s</a:t>
            </a:r>
            <a:r>
              <a:rPr dirty="0" lang="en-US"/>
              <a:t> and gynecology</a:t>
            </a:r>
            <a:endParaRPr altLang="en-US" lang="zh-CN"/>
          </a:p>
          <a:p>
            <a:pPr algn="r"/>
            <a:r>
              <a:rPr dirty="0" lang="en-US" err="1"/>
              <a:t>Goverment</a:t>
            </a:r>
            <a:r>
              <a:rPr dirty="0" lang="en-US"/>
              <a:t> raja </a:t>
            </a:r>
            <a:r>
              <a:rPr dirty="0" lang="en-US" err="1"/>
              <a:t>mirasudhar</a:t>
            </a:r>
            <a:r>
              <a:rPr dirty="0" lang="en-US"/>
              <a:t> hospital </a:t>
            </a:r>
            <a:r>
              <a:rPr dirty="0" lang="en-US" err="1"/>
              <a:t>thanjavur</a:t>
            </a:r>
            <a:endParaRPr dirty="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b="1" dirty="0" sz="3600" kern="1200" lang="en-US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INTRODUCTION</a:t>
            </a:r>
            <a:endParaRPr dirty="0" lang="en-US"/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800" kern="1200" lang="en-US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Induction of </a:t>
            </a:r>
            <a:r>
              <a:rPr dirty="0" sz="2800" kern="1200" lang="en-US" err="1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labour</a:t>
            </a:r>
            <a:r>
              <a:rPr dirty="0" sz="2800" kern="1200" lang="en-US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defined as the process of artificial initiation of uterine contraction, prior to spontaneous onset with intention to make progressive effacement and dilatation of cervix. Induction of </a:t>
            </a:r>
            <a:r>
              <a:rPr dirty="0" sz="2800" kern="1200" lang="en-US" err="1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labour</a:t>
            </a:r>
            <a:r>
              <a:rPr dirty="0" sz="2800" kern="1200" lang="en-US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a commonly performed </a:t>
            </a:r>
            <a:r>
              <a:rPr dirty="0" sz="2800" lang="en-US">
                <a:solidFill>
                  <a:srgbClr val="40404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obstetric procedure.</a:t>
            </a:r>
            <a:r>
              <a:rPr dirty="0" sz="2800" kern="1200" lang="en-US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dirty="0" sz="280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marL="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dirty="0" sz="2800" kern="1200" lang="en-US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            </a:t>
            </a:r>
            <a:endParaRPr dirty="0" sz="280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dirty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b="1" cap="all" dirty="0" sz="36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Aim</a:t>
            </a:r>
            <a:endParaRPr dirty="0" lang="en-US"/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compare the outcome of early amniotomy with immediate </a:t>
            </a:r>
            <a:r>
              <a:rPr dirty="0" sz="320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labour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induction with oxytocin compared with oxytocin infusion followed by late amniotomy in 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women with Bishop’score≥6.</a:t>
            </a:r>
            <a:endParaRPr altLang="en-US" lang="zh-CN"/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endParaRPr dirty="0" sz="180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dirty="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250912"/>
          </a:xfrm>
        </p:spPr>
        <p:txBody>
          <a:bodyPr>
            <a:normAutofit fontScale="90000"/>
          </a:bodyPr>
          <a:p>
            <a:pPr algn="ctr"/>
            <a:r>
              <a:rPr b="1" dirty="0" sz="36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METHODOLOGY</a:t>
            </a:r>
            <a:br>
              <a:rPr dirty="0" sz="36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dirty="0" lang="en-US"/>
          </a:p>
        </p:txBody>
      </p:sp>
      <p:sp>
        <p:nvSpPr>
          <p:cNvPr id="1048689" name="Content Placeholder 2"/>
          <p:cNvSpPr>
            <a:spLocks noGrp="1"/>
          </p:cNvSpPr>
          <p:nvPr>
            <p:ph idx="1"/>
          </p:nvPr>
        </p:nvSpPr>
        <p:spPr>
          <a:xfrm>
            <a:off x="1141412" y="869430"/>
            <a:ext cx="9905999" cy="4921771"/>
          </a:xfrm>
        </p:spPr>
        <p:txBody>
          <a:bodyPr>
            <a:normAutofit lnSpcReduction="10000"/>
          </a:bodyPr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b="1"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STUDY SETTING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This study is to be conducted in Department of Obstetrics and </a:t>
            </a:r>
            <a:r>
              <a:rPr dirty="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Gynaecology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Government Raja </a:t>
            </a:r>
            <a:r>
              <a:rPr dirty="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Mirasudhar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Hospital attached to Thanjavur Medical College.</a:t>
            </a: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b="1"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STUDY PERIOD: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September 2024 TO August 2025.</a:t>
            </a: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b="1"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STUDY DESIGN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It is a randomized controlled open label clinical intervention trial.</a:t>
            </a: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b="1"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SAMPLE SIZE: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140 women admitted for induction of </a:t>
            </a:r>
            <a:r>
              <a:rPr dirty="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labour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who fulfill the inclusion criteria.70 among early amniotomy group,70 among late amniotomy group.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b="1"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CONFIDENTIALITY:</a:t>
            </a:r>
            <a:endParaRPr dirty="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Patient identity will be kept confidential. Access to records for persons other than researchers and guide will be prohibited.</a:t>
            </a:r>
          </a:p>
          <a:p>
            <a:pPr indent="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dirty="0" sz="1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idx="1"/>
          </p:nvPr>
        </p:nvSpPr>
        <p:spPr>
          <a:xfrm>
            <a:off x="509588" y="569913"/>
            <a:ext cx="10987087" cy="5770562"/>
          </a:xfrm>
        </p:spPr>
        <p:txBody>
          <a:bodyPr>
            <a:normAutofit/>
          </a:bodyPr>
          <a:p>
            <a:pPr indent="0" marL="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b="1" dirty="0" sz="2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INCLUSION CRITERIA :</a:t>
            </a:r>
          </a:p>
          <a:p>
            <a:pPr indent="0" marL="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endParaRPr dirty="0" sz="280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 &gt;18yrs </a:t>
            </a:r>
          </a:p>
          <a:p>
            <a:pPr indent="45720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Full term &gt;37 weeks gestation</a:t>
            </a:r>
          </a:p>
          <a:p>
            <a:pPr indent="45720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Singleton pregnancy</a:t>
            </a:r>
          </a:p>
          <a:p>
            <a:pPr indent="45720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Fetus in cephalic presentation</a:t>
            </a:r>
          </a:p>
          <a:p>
            <a:pPr algn="just" indent="-457200" marL="46355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Bishop’s Score≥6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rane </a:t>
            </a:r>
            <a:endParaRPr altLang="en-US" lang="zh-CN"/>
          </a:p>
          <a:p>
            <a:pPr algn="just" indent="-457200" marL="46355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Reassuring fetal heart rate.</a:t>
            </a:r>
          </a:p>
          <a:p>
            <a:pPr indent="0" marL="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endParaRPr dirty="0" sz="280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Content Placeholder 2"/>
          <p:cNvSpPr>
            <a:spLocks noGrp="1"/>
          </p:cNvSpPr>
          <p:nvPr>
            <p:ph idx="1"/>
          </p:nvPr>
        </p:nvSpPr>
        <p:spPr>
          <a:xfrm>
            <a:off x="1141412" y="419725"/>
            <a:ext cx="9905999" cy="5371476"/>
          </a:xfrm>
        </p:spPr>
        <p:txBody>
          <a:bodyPr>
            <a:normAutofit/>
          </a:bodyPr>
          <a:p>
            <a:pPr indent="0" marL="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b="1"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EXCLUSION CRIT</a:t>
            </a:r>
            <a:r>
              <a:rPr b="1"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b="1"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b="1"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b="1"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altLang="en-US" lang="zh-CN"/>
          </a:p>
          <a:p>
            <a:pPr indent="0" marL="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endParaRPr dirty="0" sz="240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History of uterine surgery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Previous cesarean section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Ruptured membranes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Macrosomia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Gross congenital malformation,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Estimated fetal weight&lt;3</a:t>
            </a:r>
            <a:r>
              <a:rPr baseline="30000"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rd</a:t>
            </a: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percentile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HIV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24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Hepatitis B or C.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547141"/>
          </a:xfrm>
        </p:spPr>
        <p:txBody>
          <a:bodyPr>
            <a:normAutofit fontScale="96875"/>
          </a:bodyPr>
          <a:p>
            <a:pPr algn="ctr"/>
            <a:r>
              <a:rPr b="1" dirty="0" sz="32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 OF STUDY</a:t>
            </a:r>
            <a:endParaRPr dirty="0" sz="3200" lang="en-US"/>
          </a:p>
        </p:txBody>
      </p:sp>
      <p:sp>
        <p:nvSpPr>
          <p:cNvPr id="1048693" name="Content Placeholder 2"/>
          <p:cNvSpPr>
            <a:spLocks noGrp="1"/>
          </p:cNvSpPr>
          <p:nvPr>
            <p:ph idx="1"/>
          </p:nvPr>
        </p:nvSpPr>
        <p:spPr>
          <a:xfrm>
            <a:off x="1141412" y="547142"/>
            <a:ext cx="9905999" cy="5763718"/>
          </a:xfrm>
        </p:spPr>
        <p:txBody>
          <a:bodyPr>
            <a:noAutofit/>
          </a:bodyPr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Informed consent will be obtained.</a:t>
            </a: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Detailed history and physical examination should be done. Thorough clinical     examination including recording of vital parameters, systemic and obstetric examination should be done. 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valuated with modified biophysical profile, Assessment of cervical ripening done for all patien</a:t>
            </a:r>
            <a:r>
              <a:rPr dirty="0" lang="en-US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ts. Women with Bishop’s score of ≥6,who fulfill the inclusion criteria were enrolled for the study.</a:t>
            </a:r>
            <a:endParaRPr dirty="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After inclusion, each woman would be assigned randomly to either early amniotomy or late amniotomy.</a:t>
            </a: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endParaRPr dirty="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Group1: Women had amniotomy soon after randomization </a:t>
            </a:r>
            <a:r>
              <a:rPr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immediate  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oxytocin </a:t>
            </a:r>
            <a:r>
              <a:rPr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infusion </a:t>
            </a:r>
            <a:endParaRPr dirty="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endParaRPr dirty="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Group 2: Induction of </a:t>
            </a:r>
            <a:r>
              <a:rPr dirty="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labour</a:t>
            </a:r>
            <a:r>
              <a:rPr dirty="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was initiated with oxytocin infusion, amniotomy would be performed 4hours later.</a:t>
            </a:r>
          </a:p>
          <a:p>
            <a:endParaRPr dirty="0" sz="20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1141412" y="1109272"/>
            <a:ext cx="9905999" cy="4681929"/>
          </a:xfrm>
        </p:spPr>
        <p:txBody>
          <a:bodyPr>
            <a:normAutofit fontScale="77778" lnSpcReduction="20000"/>
          </a:bodyPr>
          <a:p>
            <a:pPr indent="-6350" marL="635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r>
              <a:rPr dirty="0" sz="1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dirty="0" sz="2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Oxytocin started at a concentration of  5 mi units/min, the time of oxytocin commencement will be recorded. After 4 hours of oxytocin infusion in the early amniotomy group participants were reviewed and cervical  assessment performed. In the delayed </a:t>
            </a:r>
            <a:r>
              <a:rPr dirty="0" sz="280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aminotomy</a:t>
            </a:r>
            <a:r>
              <a:rPr dirty="0" sz="2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group Artificial rupture of Membrane will be done  if it is still intact. If in case membrane ruptured either during cervical ripening phase or within 4 hours of oxytocin infusion, that mothers are excluded from the study. In the event of non -reassuring CTG or uterine hyperactivity either oxytocin infusion will be reduced or stopped and  delivery will be expedited depending on the individual circumstances. Subsequent management of </a:t>
            </a:r>
            <a:r>
              <a:rPr dirty="0" sz="280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labour</a:t>
            </a:r>
            <a:r>
              <a:rPr dirty="0" sz="2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decision for operative delivery will be at the discretion of </a:t>
            </a:r>
            <a:r>
              <a:rPr dirty="0" sz="2800" lang="en-US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labour</a:t>
            </a:r>
            <a:r>
              <a:rPr dirty="0" sz="2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ward care provider and same will be recorded. Neonatal data like Birth weight, Apgar score, NICU Admission and reason for admission will be recorded.</a:t>
            </a:r>
          </a:p>
          <a:p>
            <a:pPr indent="0" marL="0" marR="0">
              <a:lnSpc>
                <a:spcPct val="103000"/>
              </a:lnSpc>
              <a:spcBef>
                <a:spcPts val="0"/>
              </a:spcBef>
              <a:spcAft>
                <a:spcPts val="65"/>
              </a:spcAft>
              <a:buNone/>
            </a:pPr>
            <a:br>
              <a:rPr b="1" cap="all" dirty="0" sz="1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b="1" cap="all" dirty="0" sz="18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dirty="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Content Placeholder 2"/>
          <p:cNvSpPr>
            <a:spLocks noGrp="1"/>
          </p:cNvSpPr>
          <p:nvPr>
            <p:ph idx="1"/>
          </p:nvPr>
        </p:nvSpPr>
        <p:spPr>
          <a:xfrm>
            <a:off x="629587" y="389744"/>
            <a:ext cx="11032761" cy="6011056"/>
          </a:xfrm>
        </p:spPr>
        <p:txBody>
          <a:bodyPr>
            <a:norm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 1                   Group 2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:					Age:					Height: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Hosp No :					Date:				Weight: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Obstetrics Score: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 History: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Menstrual History: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Marital History:       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Obstetrics History: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 Examination 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Pallor 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Pedal Edema: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cap="none" dirty="0" sz="2600" i="0" kumimoji="0" lang="en-US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PR: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dirty="0" sz="2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BP: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cap="none" dirty="0" sz="2600" i="0" kumimoji="0" lang="en-US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Systemic Examination: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P/A 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P/V: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Usg</a:t>
            </a: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Liquor SVPD Date And Time: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657225"/>
              </a:tabLst>
            </a:pPr>
            <a:r>
              <a:rPr altLang="en-US" baseline="0" b="0" cap="none" dirty="0" sz="2400" i="0" kumimoji="0" lang="en-US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Nst</a:t>
            </a: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Date And Time: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lang="en-US"/>
          </a:p>
        </p:txBody>
      </p:sp>
      <p:sp>
        <p:nvSpPr>
          <p:cNvPr id="1048696" name=" 2"/>
          <p:cNvSpPr/>
          <p:nvPr/>
        </p:nvSpPr>
        <p:spPr bwMode="auto">
          <a:xfrm>
            <a:off x="2003546" y="389744"/>
            <a:ext cx="338455" cy="284480"/>
          </a:xfrm>
          <a:prstGeom prst="rect"/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t" anchorCtr="0" bIns="45720" lIns="91440" rIns="91440" rot="0" tIns="45720" upright="1" vert="horz" wrap="square">
            <a:noAutofit/>
          </a:bodyPr>
          <a:p>
            <a:endParaRPr lang="en-US"/>
          </a:p>
        </p:txBody>
      </p:sp>
      <p:sp>
        <p:nvSpPr>
          <p:cNvPr id="1048697" name=" 3"/>
          <p:cNvSpPr/>
          <p:nvPr/>
        </p:nvSpPr>
        <p:spPr bwMode="auto">
          <a:xfrm>
            <a:off x="4579266" y="389744"/>
            <a:ext cx="338455" cy="284480"/>
          </a:xfrm>
          <a:prstGeom prst="rect"/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t" anchorCtr="0" bIns="45720" lIns="91440" rIns="91440" rot="0" tIns="45720" upright="1" vert="horz" wrap="square">
            <a:noAutofit/>
          </a:bodyPr>
          <a:p>
            <a:endParaRPr lang="en-US"/>
          </a:p>
        </p:txBody>
      </p:sp>
      <p:sp>
        <p:nvSpPr>
          <p:cNvPr id="1048698" name="Rectangle 3"/>
          <p:cNvSpPr>
            <a:spLocks noChangeArrowheads="1"/>
          </p:cNvSpPr>
          <p:nvPr/>
        </p:nvSpPr>
        <p:spPr bwMode="auto">
          <a:xfrm>
            <a:off x="4807023" y="-204469"/>
            <a:ext cx="2369661" cy="866139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1" cap="none" dirty="0" sz="28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PROFO</a:t>
            </a:r>
            <a:r>
              <a:rPr altLang="en-US" b="1" dirty="0" sz="2800" lang="en-US">
                <a:solidFill>
                  <a:srgbClr val="000000"/>
                </a:solidFill>
                <a:ea typeface="Times New Roman" panose="02020603050405020304" pitchFamily="18" charset="0"/>
              </a:rPr>
              <a:t>R</a:t>
            </a:r>
            <a:r>
              <a:rPr altLang="en-US" baseline="0" b="1" cap="none" dirty="0" sz="2800" i="0" kumimoji="0" lang="en-US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</a:t>
            </a:r>
            <a:endParaRPr altLang="en-US" baseline="0" b="0" cap="none" dirty="0" sz="2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Content Placeholder 2"/>
          <p:cNvSpPr>
            <a:spLocks noGrp="1"/>
          </p:cNvSpPr>
          <p:nvPr>
            <p:ph idx="1"/>
          </p:nvPr>
        </p:nvSpPr>
        <p:spPr>
          <a:xfrm>
            <a:off x="1141412" y="1216375"/>
            <a:ext cx="9905999" cy="4939228"/>
          </a:xfrm>
        </p:spPr>
        <p:txBody>
          <a:bodyPr>
            <a:normAutofit fontScale="29167" lnSpcReduction="20000"/>
          </a:bodyPr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of delivery: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LSCS            Indication  -  			  </a:t>
            </a:r>
            <a:r>
              <a:rPr dirty="0" sz="9600" lang="en-US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Natural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Other mode of delivery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Uterine hyperactivity: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CTG abnormalities: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Oxytocin induction to Delivery interval: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Postpartum Blood loss: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Maternal temperature:</a:t>
            </a:r>
          </a:p>
          <a:p>
            <a:pPr indent="0" marL="0">
              <a:buNone/>
            </a:pPr>
            <a:r>
              <a:rPr dirty="0" sz="96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maternal complications:</a:t>
            </a:r>
          </a:p>
          <a:p>
            <a:endParaRPr dirty="0" lang="en-US"/>
          </a:p>
        </p:txBody>
      </p:sp>
      <p:sp>
        <p:nvSpPr>
          <p:cNvPr id="1048700" name="TextBox 8"/>
          <p:cNvSpPr txBox="1"/>
          <p:nvPr/>
        </p:nvSpPr>
        <p:spPr>
          <a:xfrm>
            <a:off x="1141412" y="260102"/>
            <a:ext cx="8257421" cy="904240"/>
          </a:xfrm>
          <a:prstGeom prst="rect"/>
          <a:noFill/>
        </p:spPr>
        <p:txBody>
          <a:bodyPr wrap="square">
            <a:spAutoFit/>
          </a:bodyPr>
          <a:p>
            <a:r>
              <a:rPr dirty="0" sz="24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Amniotomy Date and time:       Early             Late</a:t>
            </a:r>
          </a:p>
          <a:p>
            <a:r>
              <a:rPr dirty="0" sz="24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Liquor MSAF:     Yes 		 No</a:t>
            </a:r>
          </a:p>
        </p:txBody>
      </p:sp>
      <p:sp>
        <p:nvSpPr>
          <p:cNvPr id="1048701" name="Rectangle: Rounded Corners 3"/>
          <p:cNvSpPr/>
          <p:nvPr/>
        </p:nvSpPr>
        <p:spPr>
          <a:xfrm>
            <a:off x="3942413" y="702397"/>
            <a:ext cx="314793" cy="299803"/>
          </a:xfrm>
          <a:prstGeom prst="roundRect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54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883755" y="675600"/>
            <a:ext cx="329213" cy="317019"/>
          </a:xfrm>
          <a:prstGeom prst="rect"/>
        </p:spPr>
      </p:pic>
      <p:pic>
        <p:nvPicPr>
          <p:cNvPr id="2097155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765198" y="385378"/>
            <a:ext cx="329213" cy="317019"/>
          </a:xfrm>
          <a:prstGeom prst="rect"/>
        </p:spPr>
      </p:pic>
      <p:pic>
        <p:nvPicPr>
          <p:cNvPr id="209715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360255" y="385378"/>
            <a:ext cx="329213" cy="317019"/>
          </a:xfrm>
          <a:prstGeom prst="rect"/>
        </p:spPr>
      </p:pic>
      <p:pic>
        <p:nvPicPr>
          <p:cNvPr id="2097157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379580" y="1756889"/>
            <a:ext cx="329213" cy="317019"/>
          </a:xfrm>
          <a:prstGeom prst="rect"/>
        </p:spPr>
      </p:pic>
      <p:pic>
        <p:nvPicPr>
          <p:cNvPr id="2097158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069620" y="1756889"/>
            <a:ext cx="329213" cy="317019"/>
          </a:xfrm>
          <a:prstGeom prst="rect"/>
        </p:spPr>
      </p:pic>
      <p:pic>
        <p:nvPicPr>
          <p:cNvPr id="2097159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54542" y="2311120"/>
            <a:ext cx="329213" cy="317019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 sz="24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Neonatal outcome:</a:t>
            </a:r>
            <a:br>
              <a:rPr dirty="0" lang="en-US"/>
            </a:br>
            <a:br>
              <a:rPr dirty="0" lang="en-US"/>
            </a:br>
            <a:endParaRPr dirty="0" lang="en-US"/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1141412" y="1357803"/>
            <a:ext cx="9905999" cy="3541714"/>
          </a:xfrm>
        </p:spPr>
        <p:txBody>
          <a:bodyPr/>
          <a:p>
            <a:pPr indent="0" marL="0">
              <a:buNone/>
            </a:pPr>
            <a:r>
              <a:rPr dirty="0" lang="en-US"/>
              <a:t>	</a:t>
            </a:r>
            <a:r>
              <a:rPr dirty="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 weight:</a:t>
            </a:r>
          </a:p>
          <a:p>
            <a:pPr indent="0" marL="0">
              <a:buNone/>
            </a:pPr>
            <a:r>
              <a:rPr dirty="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Apgar score:</a:t>
            </a:r>
          </a:p>
          <a:p>
            <a:pPr indent="0" marL="0">
              <a:buNone/>
            </a:pPr>
            <a:r>
              <a:rPr dirty="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NICU admission:</a:t>
            </a:r>
          </a:p>
          <a:p>
            <a:pPr indent="0" marL="0">
              <a:buNone/>
            </a:pPr>
            <a:r>
              <a:rPr dirty="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Reason for admission:</a:t>
            </a:r>
          </a:p>
          <a:p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Content Placeholder 2"/>
          <p:cNvSpPr>
            <a:spLocks noGrp="1"/>
          </p:cNvSpPr>
          <p:nvPr>
            <p:ph idx="1"/>
          </p:nvPr>
        </p:nvSpPr>
        <p:spPr>
          <a:xfrm>
            <a:off x="841609" y="329783"/>
            <a:ext cx="9905999" cy="4487057"/>
          </a:xfrm>
        </p:spPr>
        <p:txBody>
          <a:bodyPr>
            <a:normAutofit fontScale="25000" lnSpcReduction="20000"/>
          </a:bodyPr>
          <a:p>
            <a:pPr indent="0" marL="6350" marR="0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PRIMARY OUTCOME:</a:t>
            </a:r>
          </a:p>
          <a:p>
            <a:pPr indent="0" marL="6350" marR="0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-342900" lvl="1" marL="8001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dirty="0" sz="68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Oxytocin induction  to delivery interval</a:t>
            </a:r>
          </a:p>
          <a:p>
            <a:pPr indent="0" marL="6350" marR="0">
              <a:lnSpc>
                <a:spcPct val="150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0" marL="6350" marR="0">
              <a:lnSpc>
                <a:spcPct val="150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b="1"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SECONDARY MATERNAL OUTCOME</a:t>
            </a:r>
            <a:r>
              <a:rPr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indent="-342900" lvl="1" marL="8001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dirty="0" sz="68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Uterine hyperactivity </a:t>
            </a:r>
          </a:p>
          <a:p>
            <a:pPr indent="-342900" lvl="1" marL="8001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dirty="0" sz="66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Cardiotocographic abnormalities</a:t>
            </a:r>
          </a:p>
          <a:p>
            <a:pPr indent="-342900" lvl="1" marL="8001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dirty="0" sz="68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Indication for cesarean delivery</a:t>
            </a:r>
          </a:p>
          <a:p>
            <a:pPr indent="-342900" lvl="1" marL="8001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dirty="0" sz="68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Delivery blood loss</a:t>
            </a:r>
          </a:p>
          <a:p>
            <a:pPr indent="-342900" lvl="1" marL="8001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dirty="0" sz="68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Maternal temperature</a:t>
            </a:r>
          </a:p>
          <a:p>
            <a:pPr indent="-342900" lvl="1" marL="8001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dirty="0" sz="68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Other maternal complications</a:t>
            </a:r>
          </a:p>
          <a:p>
            <a:pPr indent="-6350" marL="6350" marR="0">
              <a:lnSpc>
                <a:spcPct val="150000"/>
              </a:lnSpc>
              <a:spcBef>
                <a:spcPts val="0"/>
              </a:spcBef>
              <a:spcAft>
                <a:spcPts val="65"/>
              </a:spcAft>
            </a:pPr>
            <a:endParaRPr dirty="0" sz="7200" lang="en-US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marL="6350" marR="0">
              <a:lnSpc>
                <a:spcPct val="150000"/>
              </a:lnSpc>
              <a:spcBef>
                <a:spcPts val="0"/>
              </a:spcBef>
              <a:spcAft>
                <a:spcPts val="65"/>
              </a:spcAft>
              <a:buNone/>
            </a:pPr>
            <a:r>
              <a:rPr b="1"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SECONDARY NEONATAL OUTCOME: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Birth weight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Apgar score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Neonatal admission and indication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Reason for admission </a:t>
            </a:r>
            <a:r>
              <a:rPr b="1" dirty="0" sz="720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b="1" dirty="0" sz="36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REFERENCES:</a:t>
            </a:r>
            <a:br>
              <a:rPr dirty="0" sz="3600" lang="en-US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dirty="0" lang="en-US"/>
          </a:p>
        </p:txBody>
      </p:sp>
      <p:sp>
        <p:nvSpPr>
          <p:cNvPr id="1048706" name="Content Placeholder 2"/>
          <p:cNvSpPr>
            <a:spLocks noGrp="1"/>
          </p:cNvSpPr>
          <p:nvPr>
            <p:ph idx="1"/>
          </p:nvPr>
        </p:nvSpPr>
        <p:spPr>
          <a:xfrm>
            <a:off x="1141413" y="1803356"/>
            <a:ext cx="10610877" cy="4436126"/>
          </a:xfrm>
        </p:spPr>
        <p:txBody>
          <a:bodyPr>
            <a:normAutofit fontScale="25000" lnSpcReduction="20000"/>
          </a:bodyPr>
          <a:p>
            <a:pPr>
              <a:spcBef>
                <a:spcPts val="0"/>
              </a:spcBef>
              <a:spcAft>
                <a:spcPts val="1535"/>
              </a:spcAft>
            </a:pPr>
            <a:r>
              <a:rPr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Jesrine Hong, </a:t>
            </a:r>
            <a:r>
              <a:rPr dirty="0" sz="6400" lang="en-US" err="1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Sreella</a:t>
            </a:r>
            <a:r>
              <a:rPr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Raghavan, Ayub Siti Nordiana, Rahmah </a:t>
            </a:r>
            <a:r>
              <a:rPr dirty="0" sz="6400" lang="en-US" err="1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Saaid</a:t>
            </a:r>
            <a:r>
              <a:rPr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, Narayanan </a:t>
            </a:r>
            <a:r>
              <a:rPr dirty="0" sz="6400" lang="en-US" err="1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Vallikkannu</a:t>
            </a:r>
            <a:r>
              <a:rPr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, Peng </a:t>
            </a:r>
            <a:r>
              <a:rPr dirty="0" sz="6400" lang="en-US" err="1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Chiong</a:t>
            </a:r>
            <a:r>
              <a:rPr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Tan, Two different regimens of outpatient Foley catheter induction of labor in nulliparas: A randomized trial, International Journal of Gynecology &amp; </a:t>
            </a:r>
            <a:r>
              <a:rPr dirty="0" sz="6400" lang="en-US" err="1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ObstetricsInternational</a:t>
            </a:r>
            <a:r>
              <a:rPr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Journal of Gynecology &amp; Obstetrics International Journal of Gynecology &amp; Obstetrics, 10.1002/ijgo.15199, </a:t>
            </a:r>
            <a:r>
              <a:rPr b="1"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165</a:t>
            </a:r>
            <a:r>
              <a:rPr dirty="0" sz="6400" lang="en-US">
                <a:solidFill>
                  <a:srgbClr val="1C1D1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, 1, (265-274), (2023).</a:t>
            </a:r>
            <a:endParaRPr dirty="0" sz="6400" lang="en-US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535"/>
              </a:spcAft>
            </a:pPr>
            <a:r>
              <a:rPr dirty="0" sz="64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Bala A, Bagga R, Kalra J, Dutta S. Early versus delayed amniotomy during labor induction with oxytocin in women with Bishop’s score of ≥6: a randomized trial. J </a:t>
            </a:r>
            <a:r>
              <a:rPr dirty="0" sz="64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Matern</a:t>
            </a:r>
            <a:r>
              <a:rPr dirty="0" sz="64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Fetal Neonatal Med. 2018 Nov;31(22):2994-3001. Doi: 10.1080/14767058.2017.1362381. </a:t>
            </a:r>
            <a:r>
              <a:rPr dirty="0" sz="64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Epub</a:t>
            </a:r>
            <a:r>
              <a:rPr dirty="0" sz="64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2017 Aug 9. PMID: 28758531.</a:t>
            </a:r>
          </a:p>
          <a:p>
            <a:pPr>
              <a:spcBef>
                <a:spcPts val="0"/>
              </a:spcBef>
            </a:pP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Diab YH, Diab M, Horgan R, Berry M, Saad A, Slagle HBG,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Saade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G,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Kawakita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T. Early vs. delayed amniotomy in individuals undergoing pre-induction cervical ripening with transcervical Foley balloon: a meta-analysis. Am J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Obstet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Gynecol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MFM. 2024 Jun 17;6(8):101408. doi:10.1016/j.ajogmf.2024.101408.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Epub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ahead of print. PMID: 38897352.</a:t>
            </a:r>
            <a:endParaRPr dirty="0" sz="6400" lang="en-US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5"/>
              </a:spcAft>
            </a:pPr>
            <a:endParaRPr dirty="0" sz="6400"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1275"/>
              </a:spcAft>
            </a:pP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Berry M,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Lamiman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K,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Slan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MN, Zhang X, Arena Goncharov DD, Hwang YP, Rogers JA, Pacheco LD,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Saade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GR, Saad AF. Early vs delayed amniotomy following transcervical Foley balloon in the induction of labor: a randomized clinical trial. Am J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Obstet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Gynecol. 2024 May;230(5):567.e1-567.e11.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: 10.1016/j.ajog.2024.01.028. </a:t>
            </a:r>
            <a:r>
              <a:rPr dirty="0" sz="64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Epub</a:t>
            </a:r>
            <a:r>
              <a:rPr dirty="0" sz="64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2024 Feb 15. PMID: 38367749.</a:t>
            </a:r>
            <a:endParaRPr dirty="0" sz="6400" lang="en-US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dirty="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Content Placeholder 2"/>
          <p:cNvSpPr>
            <a:spLocks noGrp="1"/>
          </p:cNvSpPr>
          <p:nvPr>
            <p:ph idx="1"/>
          </p:nvPr>
        </p:nvSpPr>
        <p:spPr>
          <a:xfrm>
            <a:off x="1141412" y="435667"/>
            <a:ext cx="9905999" cy="5326506"/>
          </a:xfrm>
        </p:spPr>
        <p:txBody>
          <a:bodyPr>
            <a:normAutofit/>
          </a:bodyPr>
          <a:p>
            <a:pPr indent="-285750" marL="514350">
              <a:spcBef>
                <a:spcPts val="0"/>
              </a:spcBef>
            </a:pPr>
            <a:endParaRPr dirty="0" sz="1600" lang="en-US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-285750" marL="514350">
              <a:spcBef>
                <a:spcPts val="0"/>
              </a:spcBef>
            </a:pPr>
            <a:r>
              <a:rPr dirty="0" sz="1600"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Jamaluddin A, </a:t>
            </a:r>
            <a:r>
              <a:rPr dirty="0" sz="1600" lang="en-US" err="1">
                <a:latin typeface="Times New Roman" panose="02020603050405020304" pitchFamily="18" charset="0"/>
                <a:ea typeface="Times New Roman" panose="02020603050405020304" pitchFamily="18" charset="0"/>
              </a:rPr>
              <a:t>Azhary</a:t>
            </a:r>
            <a:r>
              <a:rPr dirty="0" sz="1600"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 JMK, Hong JGS, Hamdan M, Tan PC. Early versus delayed amniotomy with immediate oxytocin after Foley catheter cervical ripening in multiparous women with labor induction: A randomized controlled trial. Int J </a:t>
            </a:r>
            <a:r>
              <a:rPr dirty="0" sz="1600" lang="en-US" err="1">
                <a:latin typeface="Times New Roman" panose="02020603050405020304" pitchFamily="18" charset="0"/>
                <a:ea typeface="Times New Roman" panose="02020603050405020304" pitchFamily="18" charset="0"/>
              </a:rPr>
              <a:t>Gynaecol</a:t>
            </a:r>
            <a:r>
              <a:rPr dirty="0" sz="1600"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 Obstet. 2023 Feb;160(2):661-669. Doi: 10.1002/ijgo.14361. </a:t>
            </a:r>
            <a:r>
              <a:rPr dirty="0" sz="1600" lang="en-US" err="1">
                <a:latin typeface="Times New Roman" panose="02020603050405020304" pitchFamily="18" charset="0"/>
                <a:ea typeface="Times New Roman" panose="02020603050405020304" pitchFamily="18" charset="0"/>
              </a:rPr>
              <a:t>Epub</a:t>
            </a:r>
            <a:r>
              <a:rPr dirty="0" sz="1600"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 2022 Aug 8. PMID: 35869943.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</a:t>
            </a:r>
            <a:endParaRPr dirty="0" sz="1600" lang="en-US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buNone/>
            </a:pPr>
            <a:endParaRPr dirty="0" sz="1600" lang="en-US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1275"/>
              </a:spcAft>
            </a:pPr>
            <a:r>
              <a:rPr dirty="0" sz="16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Halouani</a:t>
            </a:r>
            <a:r>
              <a:rPr dirty="0" sz="16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A, </a:t>
            </a:r>
            <a:r>
              <a:rPr dirty="0" sz="16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Masmoudi</a:t>
            </a:r>
            <a:r>
              <a:rPr dirty="0" sz="16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Y, </a:t>
            </a:r>
            <a:r>
              <a:rPr dirty="0" sz="16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Hamdaoui</a:t>
            </a:r>
            <a:r>
              <a:rPr dirty="0" sz="16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R, </a:t>
            </a:r>
            <a:r>
              <a:rPr dirty="0" sz="16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Hammami</a:t>
            </a:r>
            <a:r>
              <a:rPr dirty="0" sz="16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A, </a:t>
            </a:r>
            <a:r>
              <a:rPr dirty="0" sz="16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Triki</a:t>
            </a:r>
            <a:r>
              <a:rPr dirty="0" sz="16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A, Ben Amor A. Early versus late amniotomy during induction of labor using oxytocin: A randomized controlled trial. </a:t>
            </a:r>
            <a:r>
              <a:rPr dirty="0" sz="16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PLoS</a:t>
            </a:r>
            <a:r>
              <a:rPr dirty="0" sz="16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One. 2023 May 25;18(5):e0286037. </a:t>
            </a:r>
            <a:r>
              <a:rPr dirty="0" sz="1600" lang="en-US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dirty="0" sz="1600" lang="en-US">
                <a:solidFill>
                  <a:srgbClr val="21212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: 10.1371/journal.pone.0286037. PMID: 37228072; PMCID: PMC10212086.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1275"/>
              </a:spcAft>
            </a:pPr>
            <a:r>
              <a:rPr dirty="0" sz="16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Pergialiotis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V, </a:t>
            </a:r>
            <a:r>
              <a:rPr dirty="0" sz="16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Bellos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I, </a:t>
            </a:r>
            <a:r>
              <a:rPr dirty="0" sz="16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Vrachnis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N, </a:t>
            </a:r>
            <a:r>
              <a:rPr dirty="0" sz="16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Papantoniou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N, </a:t>
            </a:r>
            <a:r>
              <a:rPr dirty="0" sz="16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Loutradis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D, Daskalakis G. Early versus delayed oxytocin infusion following amniotomy for induction of labor: a meta-analysis of randomized controlled trials. J </a:t>
            </a:r>
            <a:r>
              <a:rPr dirty="0" sz="16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Matern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Fetal Neonatal Med. 2022 Dec;35(25):4889-4896. Doi: 10.1080/14767058.2021.1872535. </a:t>
            </a:r>
            <a:r>
              <a:rPr dirty="0" sz="1600" lang="en-US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Epub</a:t>
            </a:r>
            <a:r>
              <a:rPr dirty="0" sz="1600"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2021 Jan 13. PMID: 33441039.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lastClr="000000" val="windowText"/>
      </a:dk1>
      <a:lt1>
        <a:sysClr lastClr="FFFFFF" val="window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Comparison of Early Versus Late Amniotomy with Immediate Oxytocin Infusion After preinduction Cervical Ripening with foley balloon catheter In Nulliparous women- A Randomised Trial</dc:title>
  <dc:creator>ACER</dc:creator>
  <cp:lastModifiedBy>ACER</cp:lastModifiedBy>
  <dcterms:created xsi:type="dcterms:W3CDTF">2024-08-28T20:01:55Z</dcterms:created>
  <dcterms:modified xsi:type="dcterms:W3CDTF">2024-08-30T14:56:23Z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dc633179451f46d882a0eb3af62a05c6</vt:lpwstr>
  </property>
</Properties>
</file>